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FFFFFF"/>
                </a:solidFill>
              </a:rPr>
              <a:t>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1887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rPPG Vital Signs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94A3B8"/>
                </a:solidFill>
              </a:rPr>
              <a:t>How a webcam and a small sensor can measure your heartbeat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3246120"/>
            <a:ext cx="1783080" cy="384048"/>
          </a:xfrm>
          <a:prstGeom prst="rect">
            <a:avLst/>
          </a:prstGeom>
          <a:solidFill>
            <a:srgbClr val="3B1111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11680" y="3246120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F4444"/>
                </a:solidFill>
              </a:rPr>
              <a:t>Heart 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977639" y="3246120"/>
            <a:ext cx="1783080" cy="384048"/>
          </a:xfrm>
          <a:prstGeom prst="rect">
            <a:avLst/>
          </a:prstGeom>
          <a:solidFill>
            <a:srgbClr val="0E2F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77639" y="3246120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8BDF8"/>
                </a:solidFill>
              </a:rPr>
              <a:t>SpO₂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3246120"/>
            <a:ext cx="1783080" cy="384048"/>
          </a:xfrm>
          <a:prstGeom prst="rect">
            <a:avLst/>
          </a:prstGeom>
          <a:solidFill>
            <a:srgbClr val="3D1C2D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0" y="3246120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472B6"/>
                </a:solidFill>
              </a:rPr>
              <a:t>Blood Pressure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59" y="3246120"/>
            <a:ext cx="1783080" cy="384048"/>
          </a:xfrm>
          <a:prstGeom prst="rect">
            <a:avLst/>
          </a:prstGeom>
          <a:solidFill>
            <a:srgbClr val="3E240E"/>
          </a:solidFill>
          <a:ln w="12700">
            <a:solidFill>
              <a:srgbClr val="FB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09559" y="3246120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B923A"/>
                </a:solidFill>
              </a:rPr>
              <a:t>Temperature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75520" y="3246120"/>
            <a:ext cx="1783080" cy="384048"/>
          </a:xfrm>
          <a:prstGeom prst="rect">
            <a:avLst/>
          </a:prstGeom>
          <a:solidFill>
            <a:srgbClr val="29223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0" y="3246120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78BFA"/>
                </a:solidFill>
              </a:rPr>
              <a:t>Respiratory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2179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For secondary school students  ·  Live demo included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What are Vital Signs?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</a:rPr>
              <a:t>These are the basic measurements that tell doctors if your body is working properly.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11430000" cy="777240"/>
          </a:xfrm>
          <a:prstGeom prst="rect">
            <a:avLst/>
          </a:prstGeom>
          <a:solidFill>
            <a:srgbClr val="2F0D0D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94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❤️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645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F4444"/>
                </a:solidFill>
              </a:rPr>
              <a:t>Heart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984248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How many times your heart beats per minute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1737360"/>
            <a:ext cx="2560320" cy="475488"/>
          </a:xfrm>
          <a:prstGeom prst="rect">
            <a:avLst/>
          </a:prstGeom>
          <a:solidFill>
            <a:srgbClr val="270B0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52560" y="173736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F4444"/>
                </a:solidFill>
              </a:rPr>
              <a:t>Normal: 60 – 100 BPM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14600"/>
            <a:ext cx="11430000" cy="777240"/>
          </a:xfrm>
          <a:prstGeom prst="rect">
            <a:avLst/>
          </a:prstGeom>
          <a:solidFill>
            <a:srgbClr val="0B25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0"/>
            <a:ext cx="594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8BDF8"/>
                </a:solidFill>
              </a:rPr>
              <a:t>Blood Oxygen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898648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How much oxygen is carried in your blood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2651760"/>
            <a:ext cx="2560320" cy="475488"/>
          </a:xfrm>
          <a:prstGeom prst="rect">
            <a:avLst/>
          </a:prstGeom>
          <a:solidFill>
            <a:srgbClr val="091F2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52560" y="265176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8BDF8"/>
                </a:solidFill>
              </a:rPr>
              <a:t>Normal: 95 – 100 %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29000"/>
            <a:ext cx="11430000" cy="777240"/>
          </a:xfrm>
          <a:prstGeom prst="rect">
            <a:avLst/>
          </a:prstGeom>
          <a:solidFill>
            <a:srgbClr val="301624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3474720"/>
            <a:ext cx="594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474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472B6"/>
                </a:solidFill>
              </a:rPr>
              <a:t>Blood Pressure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813048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The force of blood pushing against artery walls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3566160"/>
            <a:ext cx="2560320" cy="475488"/>
          </a:xfrm>
          <a:prstGeom prst="rect">
            <a:avLst/>
          </a:prstGeom>
          <a:solidFill>
            <a:srgbClr val="28131E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52560" y="356616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472B6"/>
                </a:solidFill>
              </a:rPr>
              <a:t>Normal: &lt; 120 / 80 mmHg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343400"/>
            <a:ext cx="11430000" cy="777240"/>
          </a:xfrm>
          <a:prstGeom prst="rect">
            <a:avLst/>
          </a:prstGeom>
          <a:solidFill>
            <a:srgbClr val="321D0B"/>
          </a:solidFill>
          <a:ln w="12700">
            <a:solidFill>
              <a:srgbClr val="FB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389120"/>
            <a:ext cx="594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🌡️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389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B923A"/>
                </a:solidFill>
              </a:rPr>
              <a:t>Temperature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727448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Your body's internal heat level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4480560"/>
            <a:ext cx="2560320" cy="475488"/>
          </a:xfrm>
          <a:prstGeom prst="rect">
            <a:avLst/>
          </a:prstGeom>
          <a:solidFill>
            <a:srgbClr val="291809"/>
          </a:solidFill>
          <a:ln w="12700">
            <a:solidFill>
              <a:srgbClr val="FB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52560" y="448056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B923A"/>
                </a:solidFill>
              </a:rPr>
              <a:t>Normal: 36.1 – 37.2 °C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257800"/>
            <a:ext cx="11430000" cy="777240"/>
          </a:xfrm>
          <a:prstGeom prst="rect">
            <a:avLst/>
          </a:prstGeom>
          <a:solidFill>
            <a:srgbClr val="211B32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5303520"/>
            <a:ext cx="594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303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A78BFA"/>
                </a:solidFill>
              </a:rPr>
              <a:t>Respiratory 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641848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How many breaths you take per minute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52560" y="5394960"/>
            <a:ext cx="2560320" cy="475488"/>
          </a:xfrm>
          <a:prstGeom prst="rect">
            <a:avLst/>
          </a:prstGeom>
          <a:solidFill>
            <a:srgbClr val="1B1729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52560" y="539496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78BFA"/>
                </a:solidFill>
              </a:rPr>
              <a:t>Normal: 12 – 20 br/min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What is rPPG?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</a:rPr>
              <a:t>Remote PhotoPlethysmoGraphy  —  measuring pulse without touching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5394960" cy="4754880"/>
          </a:xfrm>
          <a:prstGeom prst="rect">
            <a:avLst/>
          </a:prstGeom>
          <a:solidFill>
            <a:srgbClr val="0F2A1F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FF88"/>
                </a:solidFill>
              </a:rPr>
              <a:t>💡  The simple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1.  Every heartbeat pumps blood through your 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89504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2.  More blood = slightly redder skin colour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584448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3.  A camera takes ~15 photos per second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279392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4.  A computer detects the tiny colour changes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974336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5.  Count the changes → Heart Rate!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5778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BBF24"/>
                </a:solidFill>
              </a:rPr>
              <a:t>Your eye cannot see this change.
The camera can! 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19" y="1536192"/>
            <a:ext cx="5605145" cy="2304288"/>
          </a:xfrm>
          <a:prstGeom prst="rect">
            <a:avLst/>
          </a:prstGeom>
          <a:solidFill>
            <a:srgbClr val="101E35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6459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</a:rPr>
              <a:t>✅  What rPPG can measure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94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 •  Heart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334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 •  SpO₂ (estimate)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7238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FFFFFF"/>
                </a:solidFill>
              </a:rPr>
              <a:t>   •  Respiratory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5112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 •  Blood Pressure (estimate)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886200"/>
            <a:ext cx="5577840" cy="2377440"/>
          </a:xfrm>
          <a:prstGeom prst="rect">
            <a:avLst/>
          </a:prstGeom>
          <a:solidFill>
            <a:srgbClr val="2A1010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40233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4444"/>
                </a:solidFill>
              </a:rPr>
              <a:t>❌  What rPPG cannot replace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526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   •  Clinical-grade blood pressure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96519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   •  ECG / heart waveform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40410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   •  Blood glucose level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The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</a:rPr>
              <a:t>Two small devices that work together to read your vital signs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5394960" cy="4846320"/>
          </a:xfrm>
          <a:prstGeom prst="rect">
            <a:avLst/>
          </a:prstGeom>
          <a:solidFill>
            <a:srgbClr val="102010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FF88"/>
                </a:solidFill>
              </a:rPr>
              <a:t>⚙️  ESP32 DevKit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The brain of the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  ✦  A tiny computer chip (like a mini PC)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  ✦  Connects to WiFi to send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  ✦  Reads data from the MAX30100 sensor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434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  ✦  Sends vital signs to your browser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920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  ✦  Costs about RM 15–25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508760"/>
            <a:ext cx="5394960" cy="4846320"/>
          </a:xfrm>
          <a:prstGeom prst="rect">
            <a:avLst/>
          </a:prstGeom>
          <a:solidFill>
            <a:srgbClr val="101025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6459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A78BFA"/>
                </a:solidFill>
              </a:rPr>
              <a:t>💡  MAX30100 Sensor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The finger sensor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974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  ✦  Shines red + infrared LED onto your finger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2461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  ✦  Measures how much light bounces 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7947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  ✦  More blood = less light reflected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3434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  ✦  Detects Heart Rate and SpO₂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8920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  ✦  Costs about RM 8–15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How to Connect the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</a:rPr>
              <a:t>Just 4 wires from the MAX30100 to the ESP32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2743200" cy="457200"/>
          </a:xfrm>
          <a:prstGeom prst="rect">
            <a:avLst/>
          </a:prstGeom>
          <a:solidFill>
            <a:srgbClr val="1E3A2E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FF88"/>
                </a:solidFill>
              </a:rPr>
              <a:t>MAX30100 Pin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600200"/>
            <a:ext cx="548640" cy="4572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08960" y="1600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FF88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1600200"/>
            <a:ext cx="2743200" cy="457200"/>
          </a:xfrm>
          <a:prstGeom prst="rect">
            <a:avLst/>
          </a:prstGeom>
          <a:solidFill>
            <a:srgbClr val="1E3A2E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FF88"/>
                </a:solidFill>
              </a:rPr>
              <a:t>ESP32 Pin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600200"/>
            <a:ext cx="4846320" cy="457200"/>
          </a:xfrm>
          <a:prstGeom prst="rect">
            <a:avLst/>
          </a:prstGeom>
          <a:solidFill>
            <a:srgbClr val="1E3A2E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FF88"/>
                </a:solidFill>
              </a:rPr>
              <a:t>Purpose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48840"/>
            <a:ext cx="2743200" cy="566928"/>
          </a:xfrm>
          <a:prstGeom prst="rect">
            <a:avLst/>
          </a:prstGeom>
          <a:solidFill>
            <a:srgbClr val="1A1805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148840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BBF24"/>
                </a:solidFill>
              </a:rPr>
              <a:t>VIN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148840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2148840"/>
            <a:ext cx="2743200" cy="566928"/>
          </a:xfrm>
          <a:prstGeom prst="rect">
            <a:avLst/>
          </a:prstGeom>
          <a:solidFill>
            <a:srgbClr val="1A1805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0" y="2148840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BBF24"/>
                </a:solidFill>
              </a:rPr>
              <a:t>3.3V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148840"/>
            <a:ext cx="4846320" cy="566928"/>
          </a:xfrm>
          <a:prstGeom prst="rect">
            <a:avLst/>
          </a:prstGeom>
          <a:solidFill>
            <a:srgbClr val="1A1805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2148840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BBF24"/>
                </a:solidFill>
              </a:rPr>
              <a:t>Power supply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807208"/>
            <a:ext cx="2743200" cy="566928"/>
          </a:xfrm>
          <a:prstGeom prst="rect">
            <a:avLst/>
          </a:prstGeom>
          <a:solidFill>
            <a:srgbClr val="10101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2807208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94A3B8"/>
                </a:solidFill>
              </a:rPr>
              <a:t>GND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2807208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2807208"/>
            <a:ext cx="2743200" cy="566928"/>
          </a:xfrm>
          <a:prstGeom prst="rect">
            <a:avLst/>
          </a:prstGeom>
          <a:solidFill>
            <a:srgbClr val="10101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0" y="2807208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</a:rPr>
              <a:t>GND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2807208"/>
            <a:ext cx="4846320" cy="566928"/>
          </a:xfrm>
          <a:prstGeom prst="rect">
            <a:avLst/>
          </a:prstGeom>
          <a:solidFill>
            <a:srgbClr val="10101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2807208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</a:rPr>
              <a:t>Common ground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465576"/>
            <a:ext cx="2743200" cy="566928"/>
          </a:xfrm>
          <a:prstGeom prst="rect">
            <a:avLst/>
          </a:prstGeom>
          <a:solidFill>
            <a:srgbClr val="05181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3465576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8BDF8"/>
                </a:solidFill>
              </a:rPr>
              <a:t>SDA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3465576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3465576"/>
            <a:ext cx="2743200" cy="566928"/>
          </a:xfrm>
          <a:prstGeom prst="rect">
            <a:avLst/>
          </a:prstGeom>
          <a:solidFill>
            <a:srgbClr val="05181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0" y="3465576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8BDF8"/>
                </a:solidFill>
              </a:rPr>
              <a:t>GPIO 21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3465576"/>
            <a:ext cx="4846320" cy="566928"/>
          </a:xfrm>
          <a:prstGeom prst="rect">
            <a:avLst/>
          </a:prstGeom>
          <a:solidFill>
            <a:srgbClr val="05181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0" y="3465576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8BDF8"/>
                </a:solidFill>
              </a:rPr>
              <a:t>Data line (I2C)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123944"/>
            <a:ext cx="2743200" cy="566928"/>
          </a:xfrm>
          <a:prstGeom prst="rect">
            <a:avLst/>
          </a:prstGeom>
          <a:solidFill>
            <a:srgbClr val="15051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5760" y="412394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78BFA"/>
                </a:solidFill>
              </a:rPr>
              <a:t>SCL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412394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0" y="4123944"/>
            <a:ext cx="2743200" cy="566928"/>
          </a:xfrm>
          <a:prstGeom prst="rect">
            <a:avLst/>
          </a:prstGeom>
          <a:solidFill>
            <a:srgbClr val="15051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0" y="412394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78BFA"/>
                </a:solidFill>
              </a:rPr>
              <a:t>GPIO 22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4123944"/>
            <a:ext cx="4846320" cy="566928"/>
          </a:xfrm>
          <a:prstGeom prst="rect">
            <a:avLst/>
          </a:prstGeom>
          <a:solidFill>
            <a:srgbClr val="15051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92240" y="4123944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78BFA"/>
                </a:solidFill>
              </a:rPr>
              <a:t>Clock line (I2C)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029200"/>
            <a:ext cx="11430000" cy="640080"/>
          </a:xfrm>
          <a:prstGeom prst="rect">
            <a:avLst/>
          </a:prstGeom>
          <a:solidFill>
            <a:srgbClr val="1A1605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8640" y="5074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BBF24"/>
                </a:solidFill>
              </a:rPr>
              <a:t>⚠️   Use 3.3V — NOT 5V.  The MAX30100 can be damaged by 5V.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5806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I2C = a communication protocol that lets two devices talk using just 2 wires (SDA + SCL)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How the System Works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</a:rPr>
              <a:t>Three parts talking to each other over WiFi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91640"/>
            <a:ext cx="3566160" cy="2560320"/>
          </a:xfrm>
          <a:prstGeom prst="rect">
            <a:avLst/>
          </a:prstGeom>
          <a:solidFill>
            <a:srgbClr val="051822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79" y="17830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</a:rPr>
              <a:t>🖥️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606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</a:rPr>
              <a:t>Your Webcam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3090672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Captures your face
~15 frames/sec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691640"/>
            <a:ext cx="3566160" cy="2560320"/>
          </a:xfrm>
          <a:prstGeom prst="rect">
            <a:avLst/>
          </a:prstGeom>
          <a:solidFill>
            <a:srgbClr val="052010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43400" y="17830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606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FF88"/>
                </a:solidFill>
              </a:rPr>
              <a:t>FastAPI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3090672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Python backend
Runs on your PC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691640"/>
            <a:ext cx="3566160" cy="2560320"/>
          </a:xfrm>
          <a:prstGeom prst="rect">
            <a:avLst/>
          </a:prstGeom>
          <a:solidFill>
            <a:srgbClr val="150825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17830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606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78BFA"/>
                </a:solidFill>
              </a:rPr>
              <a:t>Browser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090672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Shows all vitals
Live updates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24688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24688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4663440"/>
            <a:ext cx="3566160" cy="1645920"/>
          </a:xfrm>
          <a:prstGeom prst="rect">
            <a:avLst/>
          </a:prstGeom>
          <a:solidFill>
            <a:srgbClr val="221805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43400" y="47548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54406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</a:rPr>
              <a:t>ESP32 + MAX30100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587044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Finger sensor  ·  sends via WiFi HTTP 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4297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BBF24"/>
                </a:solidFill>
              </a:rPr>
              <a:t>↑ WiFi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19202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Video frames
(WebSocket)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19202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Vitals data
(WebSocket)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Live Demo — Try It Yourself!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</a:rPr>
              <a:t>Follow these steps in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11430000" cy="868680"/>
          </a:xfrm>
          <a:prstGeom prst="rect">
            <a:avLst/>
          </a:prstGeom>
          <a:solidFill>
            <a:srgbClr val="05182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548640" cy="548640"/>
          </a:xfrm>
          <a:prstGeom prst="rect">
            <a:avLst/>
          </a:prstGeom>
          <a:solidFill>
            <a:srgbClr val="123F5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62763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8BDF8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53619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8BDF8"/>
                </a:solidFill>
              </a:rPr>
              <a:t>Open the 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938528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Go to  http://172.20.10.3:8090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68880"/>
            <a:ext cx="11430000" cy="868680"/>
          </a:xfrm>
          <a:prstGeom prst="rect">
            <a:avLst/>
          </a:prstGeom>
          <a:solidFill>
            <a:srgbClr val="052010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633472"/>
            <a:ext cx="548640" cy="548640"/>
          </a:xfrm>
          <a:prstGeom prst="rect">
            <a:avLst/>
          </a:prstGeom>
          <a:solidFill>
            <a:srgbClr val="00552D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6334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FF88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5420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FF88"/>
                </a:solidFill>
              </a:rPr>
              <a:t>Allow camera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944368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Click 'Allow' when the browser asks for camera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474720"/>
            <a:ext cx="11430000" cy="868680"/>
          </a:xfrm>
          <a:prstGeom prst="rect">
            <a:avLst/>
          </a:prstGeom>
          <a:solidFill>
            <a:srgbClr val="221805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3639312"/>
            <a:ext cx="548640" cy="548640"/>
          </a:xfrm>
          <a:prstGeom prst="rect">
            <a:avLst/>
          </a:prstGeom>
          <a:solidFill>
            <a:srgbClr val="533F0C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6393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BBF24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5478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BBF24"/>
                </a:solidFill>
              </a:rPr>
              <a:t>Look at the camera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950208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Keep your face in the green box on screen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480560"/>
            <a:ext cx="11430000" cy="868680"/>
          </a:xfrm>
          <a:prstGeom prst="rect">
            <a:avLst/>
          </a:prstGeom>
          <a:solidFill>
            <a:srgbClr val="150825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4645152"/>
            <a:ext cx="548640" cy="548640"/>
          </a:xfrm>
          <a:prstGeom prst="rect">
            <a:avLst/>
          </a:prstGeom>
          <a:solidFill>
            <a:srgbClr val="372E53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464515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A78BFA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5537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A78BFA"/>
                </a:solidFill>
              </a:rPr>
              <a:t>Place finger on sensor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956048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Gently rest fingertip on the MAX30100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486400"/>
            <a:ext cx="11430000" cy="868680"/>
          </a:xfrm>
          <a:prstGeom prst="rect">
            <a:avLst/>
          </a:prstGeom>
          <a:solidFill>
            <a:srgbClr val="221005"/>
          </a:solidFill>
          <a:ln w="19050">
            <a:solidFill>
              <a:srgbClr val="FB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" y="5650992"/>
            <a:ext cx="548640" cy="548640"/>
          </a:xfrm>
          <a:prstGeom prst="rect">
            <a:avLst/>
          </a:prstGeom>
          <a:solidFill>
            <a:srgbClr val="533013"/>
          </a:solidFill>
          <a:ln w="19050">
            <a:solidFill>
              <a:srgbClr val="FB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56509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B923A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5595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B923A"/>
                </a:solidFill>
              </a:rPr>
              <a:t>Wait ~10 seconds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961888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Numbers will stabilise — that's your heart rate!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What Did We Learn?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11430000" cy="914400"/>
          </a:xfrm>
          <a:prstGeom prst="rect">
            <a:avLst/>
          </a:prstGeom>
          <a:solidFill>
            <a:srgbClr val="002A16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685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26187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FF88"/>
                </a:solidFill>
              </a:rPr>
              <a:t>rPPG uses a camera to detect your 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664208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The camera sees tiny colour changes in your skin caused by blood 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12848"/>
            <a:ext cx="11430000" cy="914400"/>
          </a:xfrm>
          <a:prstGeom prst="rect">
            <a:avLst/>
          </a:prstGeom>
          <a:solidFill>
            <a:srgbClr val="091F2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304288"/>
            <a:ext cx="685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8600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8BDF8"/>
                </a:solidFill>
              </a:rPr>
              <a:t>No contact needed for heart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688336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Just look at the camera — technology does the rest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36976"/>
            <a:ext cx="11430000" cy="914400"/>
          </a:xfrm>
          <a:prstGeom prst="rect">
            <a:avLst/>
          </a:prstGeom>
          <a:solidFill>
            <a:srgbClr val="291F0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328416"/>
            <a:ext cx="685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BBF24"/>
                </a:solidFill>
              </a:rPr>
              <a:t>ESP32 + MAX30100 adds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712464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The finger sensor gives a more reliable reading alongside the webcam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61104"/>
            <a:ext cx="11430000" cy="914400"/>
          </a:xfrm>
          <a:prstGeom prst="rect">
            <a:avLst/>
          </a:prstGeom>
          <a:solidFill>
            <a:srgbClr val="291809"/>
          </a:solidFill>
          <a:ln w="12700">
            <a:solidFill>
              <a:srgbClr val="FB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4352544"/>
            <a:ext cx="685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334256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B923A"/>
                </a:solidFill>
              </a:rPr>
              <a:t>Estimates vs clinical measurements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73659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rPPG gives good estimates but is not a replacement for hospital equipment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285232"/>
            <a:ext cx="11430000" cy="914400"/>
          </a:xfrm>
          <a:prstGeom prst="rect">
            <a:avLst/>
          </a:prstGeom>
          <a:solidFill>
            <a:srgbClr val="1B1729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5376672"/>
            <a:ext cx="685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358384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A78BFA"/>
                </a:solidFill>
              </a:rPr>
              <a:t>The future of health 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76072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Smartwatches, phones and laptops may soon measure vitals automatically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714</Words>
  <Application>Microsoft Office PowerPoint</Application>
  <PresentationFormat>Custom</PresentationFormat>
  <Paragraphs>149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Satish Rao</cp:lastModifiedBy>
  <cp:revision>2</cp:revision>
  <dcterms:created xsi:type="dcterms:W3CDTF">2013-01-27T09:14:16Z</dcterms:created>
  <dcterms:modified xsi:type="dcterms:W3CDTF">2026-05-11T08:00:21Z</dcterms:modified>
  <cp:category/>
</cp:coreProperties>
</file>